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eebo"/>
      <p:regular r:id="rId201314"/>
    </p:embeddedFont>
    <p:embeddedFont>
      <p:font typeface="Heebo Medium"/>
      <p:regular r:id="rId201315"/>
    </p:embeddedFont>
    <p:embeddedFont>
      <p:font typeface="Heebo SemiBold"/>
      <p:regular r:id="rId201316"/>
    </p:embeddedFont>
    <p:embeddedFont>
      <p:font typeface="Heebo Bold"/>
      <p:regular r:id="rId201317"/>
    </p:embeddedFont>
    <p:embeddedFont>
      <p:font typeface="Heebo Black"/>
      <p:regular r:id="rId201318"/>
    </p:embeddedFont>
    <p:embeddedFont>
      <p:font typeface="Montserrat"/>
      <p:regular r:id="rId201319"/>
    </p:embeddedFont>
    <p:embeddedFont>
      <p:font typeface="Montserrat SemiBold"/>
      <p:regular r:id="rId201320"/>
    </p:embeddedFont>
    <p:embeddedFont>
      <p:font typeface="Montserrat Bold"/>
      <p:regular r:id="rId201321"/>
    </p:embeddedFont>
    <p:embeddedFont>
      <p:font typeface="Montserrat Black"/>
      <p:regular r:id="rId201322"/>
    </p:embeddedFont>
    <p:embeddedFont>
      <p:font typeface="Montserrat Medium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555" y="889000"/>
            <a:ext cx="824844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FFFFFF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ACADEMIC PROJECT 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90555" y="1157585"/>
            <a:ext cx="7638859" cy="199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8200" spc="-287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IPL Statistics</a:t>
            </a:r>
            <a:endParaRPr lang="en-US" sz="8200" dirty="0"/>
          </a:p>
          <a:p>
            <a:pPr algn="l" indent="0" marL="0">
              <a:lnSpc>
                <a:spcPct val="80000"/>
              </a:lnSpc>
              <a:buNone/>
            </a:pPr>
            <a:r>
              <a:rPr lang="en-US" sz="8200" spc="-287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Analyzer</a:t>
            </a:r>
            <a:endParaRPr lang="en-US" sz="8200" dirty="0"/>
          </a:p>
        </p:txBody>
      </p:sp>
      <p:sp>
        <p:nvSpPr>
          <p:cNvPr id="4" name="Text 2"/>
          <p:cNvSpPr/>
          <p:nvPr/>
        </p:nvSpPr>
        <p:spPr>
          <a:xfrm>
            <a:off x="790555" y="3347541"/>
            <a:ext cx="7638859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MCA – Cloud Computing and DevOps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0555" y="5664200"/>
            <a:ext cx="710547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Sanchit Parmar · Guide: Deepali Saini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IPL data becomes useful when the question is specific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006302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Scorecards hold the evidence. The analyzer makes the question easier to ask.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613323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276898"/>
            <a:ext cx="3454314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Reveal patterns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09585" y="3843734"/>
            <a:ext cx="345431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Move beyond runs and wickets to compare players, teams, seasons, venues, and match situations.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1" y="2613323"/>
            <a:ext cx="539736" cy="539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68691" y="3276898"/>
            <a:ext cx="3454314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Ask directly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4368691" y="3843734"/>
            <a:ext cx="345431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Search, sort, compare, and interpret structured match data through one interactive application.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2613323"/>
            <a:ext cx="539736" cy="539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27797" y="3276898"/>
            <a:ext cx="3454314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 clearly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8127797" y="3843734"/>
            <a:ext cx="345431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Keep the analytics practical enough to demonstrate in a college viva.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Manual scorecard analysis is slow and difficult to compare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147590"/>
            <a:ext cx="487350" cy="377825"/>
          </a:xfrm>
          <a:prstGeom prst="roundRect">
            <a:avLst>
              <a:gd name="adj" fmla="val 17142"/>
            </a:avLst>
          </a:prstGeom>
          <a:solidFill>
            <a:srgbClr val="2C294B"/>
          </a:solidFill>
          <a:ln w="12700">
            <a:solidFill>
              <a:srgbClr val="4542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0232" y="2228552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49331" y="2146002"/>
            <a:ext cx="10332779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Readable, but repetitive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49331" y="2643783"/>
            <a:ext cx="1094236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Raw CSV records are understandable, yet repeated questions still require manual effort.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585" y="3226991"/>
            <a:ext cx="487350" cy="377825"/>
          </a:xfrm>
          <a:prstGeom prst="roundRect">
            <a:avLst>
              <a:gd name="adj" fmla="val 17142"/>
            </a:avLst>
          </a:prstGeom>
          <a:solidFill>
            <a:srgbClr val="2C294B"/>
          </a:solidFill>
          <a:ln w="12700">
            <a:solidFill>
              <a:srgbClr val="4542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0232" y="3307953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49331" y="3225403"/>
            <a:ext cx="10332779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Comparison creates friction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49331" y="3723184"/>
            <a:ext cx="1094236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Finding a player, ranking a list, or comparing seasons can become inconsistent by hand.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9585" y="4306391"/>
            <a:ext cx="487350" cy="377825"/>
          </a:xfrm>
          <a:prstGeom prst="roundRect">
            <a:avLst>
              <a:gd name="adj" fmla="val 17142"/>
            </a:avLst>
          </a:prstGeom>
          <a:solidFill>
            <a:srgbClr val="2C294B"/>
          </a:solidFill>
          <a:ln w="12700">
            <a:solidFill>
              <a:srgbClr val="4542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0232" y="4387354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49331" y="4304804"/>
            <a:ext cx="10332779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interface reduces the work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49331" y="4802584"/>
            <a:ext cx="1094236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single Streamlit interface brings exploration and visual analysis together.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9585" y="5435005"/>
            <a:ext cx="10972526" cy="841970"/>
          </a:xfrm>
          <a:prstGeom prst="roundRect">
            <a:avLst>
              <a:gd name="adj" fmla="val 1357"/>
            </a:avLst>
          </a:prstGeom>
          <a:solidFill>
            <a:srgbClr val="1C0080"/>
          </a:solidFill>
          <a:ln/>
        </p:spPr>
      </p:sp>
      <p:sp>
        <p:nvSpPr>
          <p:cNvPr id="17" name="Text 15"/>
          <p:cNvSpPr/>
          <p:nvPr/>
        </p:nvSpPr>
        <p:spPr>
          <a:xfrm>
            <a:off x="825479" y="5704880"/>
            <a:ext cx="1115032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Current scope: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CSV files only — no external API and no database.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09585" y="3079353"/>
            <a:ext cx="10972526" cy="12700"/>
          </a:xfrm>
          <a:prstGeom prst="rect">
            <a:avLst/>
          </a:prstGeom>
          <a:solidFill>
            <a:srgbClr val="3B315E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5" y="4158754"/>
            <a:ext cx="10972526" cy="12700"/>
          </a:xfrm>
          <a:prstGeom prst="rect">
            <a:avLst/>
          </a:prstGeom>
          <a:solidFill>
            <a:srgbClr val="3B315E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AIM &amp;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aim is to make IPL statistics searchable, sortable, and visual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06302"/>
            <a:ext cx="3454314" cy="306834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5" name="Text 3"/>
          <p:cNvSpPr/>
          <p:nvPr/>
        </p:nvSpPr>
        <p:spPr>
          <a:xfrm>
            <a:off x="914377" y="2311102"/>
            <a:ext cx="345431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AIM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377" y="2579688"/>
            <a:ext cx="2844729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 lightweight analyzer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377" y="3560961"/>
            <a:ext cx="2844729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Python and Streamlit to turn IPL records into an accessible analytics experience.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8691" y="2006302"/>
            <a:ext cx="3454314" cy="306834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9" name="Text 7"/>
          <p:cNvSpPr/>
          <p:nvPr/>
        </p:nvSpPr>
        <p:spPr>
          <a:xfrm>
            <a:off x="4673483" y="2311102"/>
            <a:ext cx="345431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73483" y="2579688"/>
            <a:ext cx="284472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 the data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73483" y="3146524"/>
            <a:ext cx="2844729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Load CSV files, validate columns, filter records, and search player or team information.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27797" y="2006302"/>
            <a:ext cx="3454314" cy="3068340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3" name="Text 11"/>
          <p:cNvSpPr/>
          <p:nvPr/>
        </p:nvSpPr>
        <p:spPr>
          <a:xfrm>
            <a:off x="8432589" y="2311102"/>
            <a:ext cx="345431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USER EXPERIENCE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32589" y="2579688"/>
            <a:ext cx="2844729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 insight visible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32589" y="3560961"/>
            <a:ext cx="2844729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Sort results and present charts without making the interaction difficult for a first-time user.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9585" y="5277842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design stays transparent enough to explain confidently in a viva.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SYSTEM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One focused application connects data, logic, and insight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23078" y="2019796"/>
            <a:ext cx="2716145" cy="836513"/>
          </a:xfrm>
          <a:prstGeom prst="rect">
            <a:avLst/>
          </a:prstGeom>
          <a:solidFill>
            <a:srgbClr val="2C294B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006302"/>
            <a:ext cx="2743131" cy="863600"/>
          </a:xfrm>
          <a:prstGeom prst="rect">
            <a:avLst/>
          </a:prstGeom>
          <a:solidFill>
            <a:srgbClr val="454264"/>
          </a:solidFill>
          <a:ln/>
        </p:spPr>
      </p:sp>
      <p:sp>
        <p:nvSpPr>
          <p:cNvPr id="6" name="Text 4"/>
          <p:cNvSpPr/>
          <p:nvPr/>
        </p:nvSpPr>
        <p:spPr>
          <a:xfrm>
            <a:off x="1731125" y="2408535"/>
            <a:ext cx="110953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5479" y="2955627"/>
            <a:ext cx="231134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CSV files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5479" y="3522464"/>
            <a:ext cx="231134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Structured IPL statistics.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66210" y="2019796"/>
            <a:ext cx="2716145" cy="836513"/>
          </a:xfrm>
          <a:prstGeom prst="rect">
            <a:avLst/>
          </a:prstGeom>
          <a:solidFill>
            <a:srgbClr val="2C294B"/>
          </a:solidFill>
          <a:ln/>
        </p:spPr>
      </p:sp>
      <p:sp>
        <p:nvSpPr>
          <p:cNvPr id="10" name="Shape 8"/>
          <p:cNvSpPr/>
          <p:nvPr/>
        </p:nvSpPr>
        <p:spPr>
          <a:xfrm>
            <a:off x="3352716" y="2006302"/>
            <a:ext cx="2743131" cy="863600"/>
          </a:xfrm>
          <a:prstGeom prst="rect">
            <a:avLst/>
          </a:prstGeom>
          <a:solidFill>
            <a:srgbClr val="454264"/>
          </a:solidFill>
          <a:ln/>
        </p:spPr>
      </p:sp>
      <p:sp>
        <p:nvSpPr>
          <p:cNvPr id="11" name="Text 9"/>
          <p:cNvSpPr/>
          <p:nvPr/>
        </p:nvSpPr>
        <p:spPr>
          <a:xfrm>
            <a:off x="4348947" y="2408535"/>
            <a:ext cx="136025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PROCESS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8611" y="2955627"/>
            <a:ext cx="2311342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Pandas + NumPy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68611" y="3936901"/>
            <a:ext cx="231134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Clean, transform, and prepare records.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09341" y="2019796"/>
            <a:ext cx="2716145" cy="836513"/>
          </a:xfrm>
          <a:prstGeom prst="rect">
            <a:avLst/>
          </a:prstGeom>
          <a:solidFill>
            <a:srgbClr val="2C294B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2006302"/>
            <a:ext cx="2743131" cy="863600"/>
          </a:xfrm>
          <a:prstGeom prst="rect">
            <a:avLst/>
          </a:prstGeom>
          <a:solidFill>
            <a:srgbClr val="454264"/>
          </a:solidFill>
          <a:ln/>
        </p:spPr>
      </p:sp>
      <p:sp>
        <p:nvSpPr>
          <p:cNvPr id="16" name="Text 14"/>
          <p:cNvSpPr/>
          <p:nvPr/>
        </p:nvSpPr>
        <p:spPr>
          <a:xfrm>
            <a:off x="7222944" y="2408535"/>
            <a:ext cx="109842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LOGIC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11742" y="2955627"/>
            <a:ext cx="2311342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+ sorting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11742" y="3936901"/>
            <a:ext cx="2311342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Organize records around selected criteria.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852472" y="2019796"/>
            <a:ext cx="2716145" cy="836513"/>
          </a:xfrm>
          <a:prstGeom prst="rect">
            <a:avLst/>
          </a:prstGeom>
          <a:solidFill>
            <a:srgbClr val="2C294B"/>
          </a:solidFill>
          <a:ln/>
        </p:spPr>
      </p:sp>
      <p:sp>
        <p:nvSpPr>
          <p:cNvPr id="20" name="Shape 18"/>
          <p:cNvSpPr/>
          <p:nvPr/>
        </p:nvSpPr>
        <p:spPr>
          <a:xfrm>
            <a:off x="8838979" y="2006302"/>
            <a:ext cx="2743131" cy="863600"/>
          </a:xfrm>
          <a:prstGeom prst="rect">
            <a:avLst/>
          </a:prstGeom>
          <a:solidFill>
            <a:srgbClr val="454264"/>
          </a:solidFill>
          <a:ln/>
        </p:spPr>
      </p:sp>
      <p:sp>
        <p:nvSpPr>
          <p:cNvPr id="21" name="Text 19"/>
          <p:cNvSpPr/>
          <p:nvPr/>
        </p:nvSpPr>
        <p:spPr>
          <a:xfrm>
            <a:off x="9881742" y="2408535"/>
            <a:ext cx="126719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OUTPUT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54873" y="2955627"/>
            <a:ext cx="231134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views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054873" y="3522464"/>
            <a:ext cx="231134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KPI cards, tables, filters, and Plotly charts.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09585" y="5288062"/>
            <a:ext cx="10972526" cy="841970"/>
          </a:xfrm>
          <a:prstGeom prst="roundRect">
            <a:avLst>
              <a:gd name="adj" fmla="val 1357"/>
            </a:avLst>
          </a:prstGeom>
          <a:solidFill>
            <a:srgbClr val="450707"/>
          </a:solidFill>
          <a:ln/>
        </p:spPr>
      </p:sp>
      <p:sp>
        <p:nvSpPr>
          <p:cNvPr id="25" name="Text 23"/>
          <p:cNvSpPr/>
          <p:nvPr/>
        </p:nvSpPr>
        <p:spPr>
          <a:xfrm>
            <a:off x="825479" y="5557937"/>
            <a:ext cx="1115032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Not in the current version: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live scores, external API calls, authentication, or database persistence.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stack stays lightweight so the project is easy to run and explain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06302"/>
            <a:ext cx="539736" cy="539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669877"/>
            <a:ext cx="1950691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585" y="3236714"/>
            <a:ext cx="195069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Core language and application logic.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969" y="2006302"/>
            <a:ext cx="539736" cy="539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64969" y="2669877"/>
            <a:ext cx="1950691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2864969" y="3236714"/>
            <a:ext cx="195069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Interactive web interface.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353" y="2006302"/>
            <a:ext cx="539736" cy="539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20353" y="2669877"/>
            <a:ext cx="195088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Pandas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5120353" y="3236714"/>
            <a:ext cx="195088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CSV ingestion and tabular analysis.</a:t>
            </a:r>
            <a:endParaRPr lang="en-US" sz="1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5936" y="2006302"/>
            <a:ext cx="539736" cy="539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75936" y="2669877"/>
            <a:ext cx="1950691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NumPy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7375936" y="3236714"/>
            <a:ext cx="195069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Array-based calculations.</a:t>
            </a:r>
            <a:endParaRPr lang="en-US" sz="17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1320" y="2006302"/>
            <a:ext cx="539736" cy="539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31320" y="2669877"/>
            <a:ext cx="1950790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Plotly</a:t>
            </a:r>
            <a:endParaRPr lang="en-US" sz="2400" dirty="0"/>
          </a:p>
        </p:txBody>
      </p:sp>
      <p:sp>
        <p:nvSpPr>
          <p:cNvPr id="18" name="Text 11"/>
          <p:cNvSpPr/>
          <p:nvPr/>
        </p:nvSpPr>
        <p:spPr>
          <a:xfrm>
            <a:off x="9631320" y="3236714"/>
            <a:ext cx="1950790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Charts for trends and comparisons.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609585" y="4069755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tool has one visible responsibility, keeping the architecture easy to trace from input to output.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CSV is the project’s current source of truth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48606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Portable, inspectable files keep the prototype simple while making the schema visible.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41327"/>
          <a:ext cx="9143771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</a:tblGrid>
              <a:tr h="487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Field group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Typical fields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Analysis task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Match context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Season, match, venue, result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Filter the match universe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Team context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Team, opponent, innings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Compare team situations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Player metrics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Player, runs, wickets, strike rate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Search and rank performers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</a:tr>
              <a:tr h="4748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Delivery metrics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Overs and delivery-level fields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Support detailed analysis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618831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app reads the selected file, checks column availability, and prepares records for analysis. Refreshing data means replacing or updating the CSV files.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USER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main features answer common cricket questions quickly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06302"/>
            <a:ext cx="5333867" cy="3064073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5" name="Text 3"/>
          <p:cNvSpPr/>
          <p:nvPr/>
        </p:nvSpPr>
        <p:spPr>
          <a:xfrm>
            <a:off x="914377" y="2311102"/>
            <a:ext cx="533386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FILTER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377" y="2579688"/>
            <a:ext cx="472428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the right slice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377" y="3146524"/>
            <a:ext cx="1002481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DCD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3854" y="3211215"/>
            <a:ext cx="135311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09" kern="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SEASON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024806" y="3146524"/>
            <a:ext cx="781130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DCD7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54283" y="3211215"/>
            <a:ext cx="1131760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09" kern="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TEAM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913883" y="3146524"/>
            <a:ext cx="956643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DCD7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3360" y="3211215"/>
            <a:ext cx="130727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09" kern="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PLAYER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978473" y="3146524"/>
            <a:ext cx="869829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DCD7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07950" y="3211215"/>
            <a:ext cx="122045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09" kern="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VENUE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377" y="3591123"/>
            <a:ext cx="964581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DCD7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3854" y="3655814"/>
            <a:ext cx="131521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09" kern="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METRIC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48244" y="2006302"/>
            <a:ext cx="5333867" cy="3064073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8" name="Text 16"/>
          <p:cNvSpPr/>
          <p:nvPr/>
        </p:nvSpPr>
        <p:spPr>
          <a:xfrm>
            <a:off x="6553036" y="2311102"/>
            <a:ext cx="533386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DCD7E5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ANALYZE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53036" y="2579688"/>
            <a:ext cx="472428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records into answers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53036" y="3146524"/>
            <a:ext cx="4724282" cy="1619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Search focused player or team records.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Sort rankings by runs, wickets, strike rate, economy, or available fields.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Compare selected entities in tables and charts.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09585" y="5298976"/>
            <a:ext cx="10972526" cy="841970"/>
          </a:xfrm>
          <a:prstGeom prst="roundRect">
            <a:avLst>
              <a:gd name="adj" fmla="val 1357"/>
            </a:avLst>
          </a:prstGeom>
          <a:solidFill>
            <a:srgbClr val="183A13"/>
          </a:solidFill>
          <a:ln/>
        </p:spPr>
      </p:sp>
      <p:sp>
        <p:nvSpPr>
          <p:cNvPr id="22" name="Text 20"/>
          <p:cNvSpPr/>
          <p:nvPr/>
        </p:nvSpPr>
        <p:spPr>
          <a:xfrm>
            <a:off x="825479" y="5568851"/>
            <a:ext cx="1115032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Demo clarity: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reset controls and readable empty states keep the interaction understandable.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ALGORITHM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Four algorithms support four different data tasks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548606"/>
            <a:ext cx="487350" cy="377825"/>
          </a:xfrm>
          <a:prstGeom prst="roundRect">
            <a:avLst>
              <a:gd name="adj" fmla="val 17142"/>
            </a:avLst>
          </a:prstGeom>
          <a:solidFill>
            <a:srgbClr val="D84CFF"/>
          </a:solidFill>
          <a:ln w="12700">
            <a:solidFill>
              <a:srgbClr val="4542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0232" y="1629569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2012752"/>
            <a:ext cx="2514537" cy="19050"/>
          </a:xfrm>
          <a:prstGeom prst="rect">
            <a:avLst/>
          </a:prstGeom>
          <a:solidFill>
            <a:srgbClr val="7852FF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117527"/>
            <a:ext cx="2514537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Search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9585" y="2684363"/>
            <a:ext cx="2514537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Scan records for a direct player, team, or text match. Useful for small filtered sets.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28914" y="1548606"/>
            <a:ext cx="487350" cy="377825"/>
          </a:xfrm>
          <a:prstGeom prst="roundRect">
            <a:avLst>
              <a:gd name="adj" fmla="val 17142"/>
            </a:avLst>
          </a:prstGeom>
          <a:solidFill>
            <a:srgbClr val="D84CFF"/>
          </a:solidFill>
          <a:ln w="12700">
            <a:solidFill>
              <a:srgbClr val="4542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9561" y="1629569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428914" y="2012752"/>
            <a:ext cx="2514537" cy="19050"/>
          </a:xfrm>
          <a:prstGeom prst="rect">
            <a:avLst/>
          </a:prstGeom>
          <a:solidFill>
            <a:srgbClr val="7852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28914" y="2117527"/>
            <a:ext cx="2514537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Merge Sort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28914" y="2684363"/>
            <a:ext cx="251453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Stable </a:t>
            </a:r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O(n log n)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ordering when consistent ranking matters.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48244" y="1548606"/>
            <a:ext cx="487350" cy="377825"/>
          </a:xfrm>
          <a:prstGeom prst="roundRect">
            <a:avLst>
              <a:gd name="adj" fmla="val 17142"/>
            </a:avLst>
          </a:prstGeom>
          <a:solidFill>
            <a:srgbClr val="D84CFF"/>
          </a:solidFill>
          <a:ln w="12700">
            <a:solidFill>
              <a:srgbClr val="4542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8891" y="1629569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48244" y="2012752"/>
            <a:ext cx="2514537" cy="19050"/>
          </a:xfrm>
          <a:prstGeom prst="rect">
            <a:avLst/>
          </a:prstGeom>
          <a:solidFill>
            <a:srgbClr val="7852FF"/>
          </a:solidFill>
          <a:ln/>
        </p:spPr>
      </p:sp>
      <p:sp>
        <p:nvSpPr>
          <p:cNvPr id="17" name="Text 15"/>
          <p:cNvSpPr/>
          <p:nvPr/>
        </p:nvSpPr>
        <p:spPr>
          <a:xfrm>
            <a:off x="6248244" y="2117527"/>
            <a:ext cx="2514537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Sort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48244" y="2684363"/>
            <a:ext cx="251453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Fast average-case </a:t>
            </a:r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O(n log n)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sorting for general-purpose ranking.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067573" y="1548606"/>
            <a:ext cx="487350" cy="377825"/>
          </a:xfrm>
          <a:prstGeom prst="roundRect">
            <a:avLst>
              <a:gd name="adj" fmla="val 17142"/>
            </a:avLst>
          </a:prstGeom>
          <a:solidFill>
            <a:srgbClr val="D84CFF"/>
          </a:solidFill>
          <a:ln w="12700">
            <a:solidFill>
              <a:srgbClr val="4542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8220" y="1629569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067573" y="2012752"/>
            <a:ext cx="2514537" cy="19050"/>
          </a:xfrm>
          <a:prstGeom prst="rect">
            <a:avLst/>
          </a:prstGeom>
          <a:solidFill>
            <a:srgbClr val="7852FF"/>
          </a:solidFill>
          <a:ln/>
        </p:spPr>
      </p:sp>
      <p:sp>
        <p:nvSpPr>
          <p:cNvPr id="22" name="Text 20"/>
          <p:cNvSpPr/>
          <p:nvPr/>
        </p:nvSpPr>
        <p:spPr>
          <a:xfrm>
            <a:off x="9067573" y="2117527"/>
            <a:ext cx="2514537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60" kern="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Heap Sort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067573" y="2684363"/>
            <a:ext cx="251453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O(n log n)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ordering with a heap-based approach and predictable performance.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09585" y="4121845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0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interface exposes outcomes; the implementation keeps algorithm choice explainable in a viva.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0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PIPELINE RESPONSIBILITIES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78185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85" kern="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Each library has a clear job in the pipeline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548606"/>
          <a:ext cx="9143771" cy="914400"/>
        </p:xfrm>
        <a:graphic>
          <a:graphicData uri="http://schemas.openxmlformats.org/drawingml/2006/table">
            <a:tbl>
              <a:tblPr/>
              <a:tblGrid>
                <a:gridCol w="3291758"/>
                <a:gridCol w="7680768"/>
              </a:tblGrid>
              <a:tr h="487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Python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Orchestration, functions, control flow, and application logic.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Streamlit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Sidebar filters, widgets, layout, and interactive state.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Pandas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DataFrame operations, CSV loading, cleaning, grouping, and aggregation.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NumPy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Numerical transformations and efficient calculations.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</a:tr>
              <a:tr h="4748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Plotly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Interactive bar, line, scatter, and comparison visuals.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1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A2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585" y="4176911"/>
            <a:ext cx="10972526" cy="174625"/>
          </a:xfrm>
          <a:custGeom>
            <a:avLst/>
            <a:gdLst/>
            <a:ahLst/>
            <a:cxnLst/>
            <a:rect l="l" t="t" r="r" b="b"/>
            <a:pathLst>
              <a:path w="10972526" h="174625">
                <a:moveTo>
                  <a:pt x="0" y="66358"/>
                </a:moveTo>
                <a:lnTo>
                  <a:pt x="8997471" y="13970"/>
                </a:lnTo>
                <a:lnTo>
                  <a:pt x="10972526" y="87313"/>
                </a:lnTo>
                <a:lnTo>
                  <a:pt x="8997471" y="160655"/>
                </a:lnTo>
                <a:lnTo>
                  <a:pt x="0" y="108268"/>
                </a:lnTo>
                <a:close/>
              </a:path>
            </a:pathLst>
          </a:custGeom>
          <a:solidFill>
            <a:srgbClr val="581CA0">
              <a:alpha val="9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09585" y="4229298"/>
            <a:ext cx="9600960" cy="69751"/>
          </a:xfrm>
          <a:prstGeom prst="roundRect">
            <a:avLst>
              <a:gd name="adj" fmla="val 49999"/>
            </a:avLst>
          </a:prstGeom>
          <a:solidFill>
            <a:srgbClr val="7852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2026-09-10T09:15:00Z</dcterms:created>
  <dcterms:modified xsi:type="dcterms:W3CDTF">2026-09-10T09:15:00Z</dcterms:modified>
</cp:coreProperties>
</file>